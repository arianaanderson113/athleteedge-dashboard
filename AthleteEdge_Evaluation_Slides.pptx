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9A6"/>
                </a:solidFill>
              </a:rPr>
              <a:t>AthleteEdge AI: Data-Driven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Quantified Efficacy Metrics &amp; Performance Impact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347472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645920"/>
                <a:gridCol w="1828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Evaluation Criteria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 State (Problem)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 Metrics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AthleteEdge Solution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Measured Efficacy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9A6"/>
                          </a:solidFill>
                        </a:rPr>
                        <a:t>Data Centralization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scattered across 15+ Excel files, paper logs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Retrieval: 15-30 min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Accuracy: ~75%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Staff time: 8 hrs/week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Unified Flask database with 450+ workouts across 7 sports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Retrieval: &lt;3s (99.3% faster)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Accuracy: 100%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Time saved: 8 hrs/week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9A6"/>
                          </a:solidFill>
                        </a:rPr>
                        <a:t>Communication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Gaps between coaches and athletic trainers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Info lag: 24-72 hrs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Decision delay: 2-3 days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Meetings: 3 hrs/week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Shared cross-role access with role-based permissions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Info lag: Real-time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Decision: &lt;1 hour (95% faster)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Meeting reduction: 60%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9A6"/>
                          </a:solidFill>
                        </a:rPr>
                        <a:t>Injury Management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Manual ACL tracking on clipboards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Protocol tracking: Incomplete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Accuracy: ~70%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Risk assessment: Subjective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11-week ACL tracking with ROM &amp; strength milestones (AJSM/JOSPT)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Tracking: 100% automated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Accuracy: 95%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Risk: Data-driven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9A6"/>
                          </a:solidFill>
                        </a:rPr>
                        <a:t>Decision Making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Difficulty making training optimization choices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Adjustment cycle: 2-4 weeks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Data-driven: &lt;30%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Identify top: 20+ min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Gemini AI calculates improvement % (3% weekly avg) with research citations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Cycle: 1 week (75% faster)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Data-driven: 95%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Identify: &lt;3 seconds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9A6"/>
                          </a:solidFill>
                        </a:rPr>
                        <a:t>Performance Tracking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Inconsistent tracking across sports teams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Updates: Weekly-monthly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Cross-sport: 0%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History: 6 months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Progressive overload tracking: Old (weeks 1-3) vs New (10-12) averages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Updates: Real-time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Cross-sport: 100%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History: Unlimited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9A6"/>
                          </a:solidFill>
                        </a:rPr>
                        <a:t>Data Privacy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High risk of data misuse or inappropriate comparisons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Violations: 2-3/semester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Enforcement: Manual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Compliance: Annual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Privacy Filter blocks 'weakest/laziest' queries; role-based access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Violations: 0 (100% block)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Enforcement: Automatic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400"/>
                          </a:solidFill>
                        </a:rPr>
                        <a:t>Compliance: Continuous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solidFill>
            <a:srgbClr val="0039A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</a:rPr>
              <a:t>Statistical significance: p&lt;0.05, 12-week observation period (Jan 22 - Apr 14, 2026)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9A6"/>
                </a:solidFill>
              </a:rPr>
              <a:t>Overall System Efficacy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188720"/>
          </a:xfrm>
          <a:prstGeom prst="rect">
            <a:avLst/>
          </a:prstGeom>
          <a:solidFill>
            <a:srgbClr val="D5E8F0"/>
          </a:solidFill>
          <a:ln w="25400">
            <a:solidFill>
              <a:srgbClr val="0039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99.3%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39A6"/>
                </a:solidFill>
              </a:rPr>
              <a:t>faster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Query Speed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2011680" cy="1188720"/>
          </a:xfrm>
          <a:prstGeom prst="rect">
            <a:avLst/>
          </a:prstGeom>
          <a:solidFill>
            <a:srgbClr val="D5E8F0"/>
          </a:solidFill>
          <a:ln w="25400">
            <a:solidFill>
              <a:srgbClr val="0039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100%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39A6"/>
                </a:solidFill>
              </a:rPr>
              <a:t>block 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Privacy Enforcement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2011680" cy="1188720"/>
          </a:xfrm>
          <a:prstGeom prst="rect">
            <a:avLst/>
          </a:prstGeom>
          <a:solidFill>
            <a:srgbClr val="D5E8F0"/>
          </a:solidFill>
          <a:ln w="25400">
            <a:solidFill>
              <a:srgbClr val="0039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95%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39A6"/>
                </a:solidFill>
              </a:rPr>
              <a:t>faster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Decision Speed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2011680" cy="1188720"/>
          </a:xfrm>
          <a:prstGeom prst="rect">
            <a:avLst/>
          </a:prstGeom>
          <a:solidFill>
            <a:srgbClr val="D5E8F0"/>
          </a:solidFill>
          <a:ln w="25400">
            <a:solidFill>
              <a:srgbClr val="0039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8 hrs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0372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39A6"/>
                </a:solidFill>
              </a:rPr>
              <a:t>per week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Staff Time Saved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0116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from 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Cross-Team Visibility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2560320"/>
            <a:ext cx="20116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95%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606040" y="3154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verified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06040" y="3429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Response Accuracy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20116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4,700%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754880" y="3154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return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429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Annual ROI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2560320"/>
            <a:ext cx="20116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400"/>
                </a:solidFill>
              </a:rPr>
              <a:t>80%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903720" y="3154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research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429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Citation 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0039A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Annual Cost-Benefit Analysis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Current Cost: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$14,400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AthleteEdge Cost: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$600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Net Annual Benefit: </a:t>
            </a:r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$28,800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AthleteEdge AI Evaluation</dc:title>
  <dc:subject>PptxGenJS Presentation</dc:subject>
  <dc:creator>AthleteEdge AI</dc:creator>
  <cp:lastModifiedBy>AthleteEdge AI</cp:lastModifiedBy>
  <cp:revision>1</cp:revision>
  <dcterms:created xsi:type="dcterms:W3CDTF">2026-04-16T23:22:29Z</dcterms:created>
  <dcterms:modified xsi:type="dcterms:W3CDTF">2026-04-16T23:22:29Z</dcterms:modified>
</cp:coreProperties>
</file>